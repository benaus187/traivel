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553b90ccd04c89" /><Relationship Type="http://schemas.openxmlformats.org/officeDocument/2006/relationships/extended-properties" Target="/docProps/app.xml" Id="R988d1ccdeb2540c9" /><Relationship Type="http://schemas.openxmlformats.org/officeDocument/2006/relationships/officeDocument" Target="/ppt/presentation.xml" Id="R42c6fe25481e44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72024c34424fa5"/>
  </p:sldMasterIdLst>
  <p:notesMasterIdLst>
    <p:notesMasterId xmlns:r="http://schemas.openxmlformats.org/officeDocument/2006/relationships" r:id="R2b3780c9f40c481a"/>
  </p:notesMasterIdLst>
  <p:sldIdLst>
    <p:sldId xmlns:r="http://schemas.openxmlformats.org/officeDocument/2006/relationships" id="256" r:id="Ra260cc85e21a4712"/>
    <p:sldId xmlns:r="http://schemas.openxmlformats.org/officeDocument/2006/relationships" id="257" r:id="Rd6248bc2b1e14456"/>
    <p:sldId xmlns:r="http://schemas.openxmlformats.org/officeDocument/2006/relationships" id="258" r:id="Rd3efda4f5f4948c2"/>
    <p:sldId xmlns:r="http://schemas.openxmlformats.org/officeDocument/2006/relationships" id="259" r:id="Rfb16173a0adf42ee"/>
    <p:sldId xmlns:r="http://schemas.openxmlformats.org/officeDocument/2006/relationships" id="260" r:id="Rb15d64a9721d4018"/>
    <p:sldId xmlns:r="http://schemas.openxmlformats.org/officeDocument/2006/relationships" id="261" r:id="R96d816ee88fd4103"/>
    <p:sldId xmlns:r="http://schemas.openxmlformats.org/officeDocument/2006/relationships" id="262" r:id="R363d2eab934f4642"/>
    <p:sldId xmlns:r="http://schemas.openxmlformats.org/officeDocument/2006/relationships" id="263" r:id="R196e788df8b947aa"/>
    <p:sldId xmlns:r="http://schemas.openxmlformats.org/officeDocument/2006/relationships" id="264" r:id="R20a8aa22cb73448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72024c34424fa5" /><Relationship Type="http://schemas.openxmlformats.org/officeDocument/2006/relationships/theme" Target="/ppt/theme/theme1.xml" Id="R718c11b50b3345e2" /><Relationship Type="http://schemas.openxmlformats.org/officeDocument/2006/relationships/notesMaster" Target="/ppt/notesMasters/notesMaster1.xml" Id="R2b3780c9f40c481a" /><Relationship Type="http://schemas.openxmlformats.org/officeDocument/2006/relationships/presProps" Target="/ppt/presProps.xml" Id="R87ed823514a44224" /><Relationship Type="http://schemas.openxmlformats.org/officeDocument/2006/relationships/viewProps" Target="/ppt/viewProps.xml" Id="R696afd98eaf64787" /><Relationship Type="http://schemas.openxmlformats.org/officeDocument/2006/relationships/tableStyles" Target="/ppt/tableStyles.xml" Id="R0a62b8d371704b5c" /><Relationship Type="http://schemas.openxmlformats.org/officeDocument/2006/relationships/slide" Target="/ppt/slides/slide1.xml" Id="Ra260cc85e21a4712" /><Relationship Type="http://schemas.openxmlformats.org/officeDocument/2006/relationships/slide" Target="/ppt/slides/slide2.xml" Id="Rd6248bc2b1e14456" /><Relationship Type="http://schemas.openxmlformats.org/officeDocument/2006/relationships/slide" Target="/ppt/slides/slide3.xml" Id="Rd3efda4f5f4948c2" /><Relationship Type="http://schemas.openxmlformats.org/officeDocument/2006/relationships/slide" Target="/ppt/slides/slide4.xml" Id="Rfb16173a0adf42ee" /><Relationship Type="http://schemas.openxmlformats.org/officeDocument/2006/relationships/slide" Target="/ppt/slides/slide5.xml" Id="Rb15d64a9721d4018" /><Relationship Type="http://schemas.openxmlformats.org/officeDocument/2006/relationships/slide" Target="/ppt/slides/slide6.xml" Id="R96d816ee88fd4103" /><Relationship Type="http://schemas.openxmlformats.org/officeDocument/2006/relationships/slide" Target="/ppt/slides/slide7.xml" Id="R363d2eab934f4642" /><Relationship Type="http://schemas.openxmlformats.org/officeDocument/2006/relationships/slide" Target="/ppt/slides/slide8.xml" Id="R196e788df8b947aa" /><Relationship Type="http://schemas.openxmlformats.org/officeDocument/2006/relationships/slide" Target="/ppt/slides/slide9.xml" Id="R20a8aa22cb7344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db71e6437a14e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d6c082f2e246bf" /><Relationship Type="http://schemas.openxmlformats.org/officeDocument/2006/relationships/notesMaster" Target="/ppt/notesMasters/notesMaster1.xml" Id="R2b124d3842eb49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bc1e3519864a99" /><Relationship Type="http://schemas.openxmlformats.org/officeDocument/2006/relationships/notesMaster" Target="/ppt/notesMasters/notesMaster1.xml" Id="Rf49ed5c776bd46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c2b28c19414c57" /><Relationship Type="http://schemas.openxmlformats.org/officeDocument/2006/relationships/notesMaster" Target="/ppt/notesMasters/notesMaster1.xml" Id="R0dd1594304f941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b5550d83c1437d" /><Relationship Type="http://schemas.openxmlformats.org/officeDocument/2006/relationships/notesMaster" Target="/ppt/notesMasters/notesMaster1.xml" Id="Rab043813882e42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ad6f96af2c4ad2" /><Relationship Type="http://schemas.openxmlformats.org/officeDocument/2006/relationships/notesMaster" Target="/ppt/notesMasters/notesMaster1.xml" Id="R226234c9e19248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c331baa5af4b6e" /><Relationship Type="http://schemas.openxmlformats.org/officeDocument/2006/relationships/notesMaster" Target="/ppt/notesMasters/notesMaster1.xml" Id="Reaa8c66e12914c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416e3fc676460e" /><Relationship Type="http://schemas.openxmlformats.org/officeDocument/2006/relationships/notesMaster" Target="/ppt/notesMasters/notesMaster1.xml" Id="R84997c89e7ea4e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c85d6401024dad" /><Relationship Type="http://schemas.openxmlformats.org/officeDocument/2006/relationships/notesMaster" Target="/ppt/notesMasters/notesMaster1.xml" Id="Rf79cbd27ed944d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b6e353952e419a" /><Relationship Type="http://schemas.openxmlformats.org/officeDocument/2006/relationships/notesMaster" Target="/ppt/notesMasters/notesMaster1.xml" Id="Rbaa74b32924a4a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fb8db7eacf495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62c542a97f34c10" /><Relationship Type="http://schemas.openxmlformats.org/officeDocument/2006/relationships/slideLayout" Target="/ppt/slideLayouts/slideLayout2.xml" Id="R74e2807ce34145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e2807ce34145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3069775c6c4ea5" /><Relationship Type="http://schemas.openxmlformats.org/officeDocument/2006/relationships/image" Target="/ppt/media/image.png" Id="Re00667f7603a4e64" /><Relationship Type="http://schemas.openxmlformats.org/officeDocument/2006/relationships/image" Target="/ppt/media/image.svg" Id="R836cf5dbbc0e44a3" /><Relationship Type="http://schemas.openxmlformats.org/officeDocument/2006/relationships/notesSlide" Target="/ppt/notesSlides/notesSlide1.xml" Id="R5ac651ed565a4f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6d11cf61de46e5" /><Relationship Type="http://schemas.openxmlformats.org/officeDocument/2006/relationships/notesSlide" Target="/ppt/notesSlides/notesSlide2.xml" Id="R71fdeff578f645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4925059f5e49ad" /><Relationship Type="http://schemas.openxmlformats.org/officeDocument/2006/relationships/image" Target="/ppt/media/image2.png" Id="Rbf14b5357b13492c" /><Relationship Type="http://schemas.openxmlformats.org/officeDocument/2006/relationships/image" Target="/ppt/media/image2.svg" Id="R8c692b219b854308" /><Relationship Type="http://schemas.openxmlformats.org/officeDocument/2006/relationships/image" Target="/ppt/media/image3.png" Id="R10e3f94f649342c1" /><Relationship Type="http://schemas.openxmlformats.org/officeDocument/2006/relationships/image" Target="/ppt/media/image3.svg" Id="R20581de840d641b3" /><Relationship Type="http://schemas.openxmlformats.org/officeDocument/2006/relationships/image" Target="/ppt/media/image4.png" Id="Rb9caf53d55464b91" /><Relationship Type="http://schemas.openxmlformats.org/officeDocument/2006/relationships/image" Target="/ppt/media/image4.svg" Id="R897eefcc66384ac3" /><Relationship Type="http://schemas.openxmlformats.org/officeDocument/2006/relationships/image" Target="/ppt/media/image5.png" Id="Rfc3bf8fd5043446a" /><Relationship Type="http://schemas.openxmlformats.org/officeDocument/2006/relationships/image" Target="/ppt/media/image5.svg" Id="R349f9301a653413f" /><Relationship Type="http://schemas.openxmlformats.org/officeDocument/2006/relationships/notesSlide" Target="/ppt/notesSlides/notesSlide3.xml" Id="R044a9b69165b42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04c7db6bba4107" /><Relationship Type="http://schemas.openxmlformats.org/officeDocument/2006/relationships/image" Target="/ppt/media/image6.png" Id="R7f743ff397cb4048" /><Relationship Type="http://schemas.openxmlformats.org/officeDocument/2006/relationships/image" Target="/ppt/media/image6.svg" Id="R172780676c6b4405" /><Relationship Type="http://schemas.openxmlformats.org/officeDocument/2006/relationships/image" Target="/ppt/media/image7.png" Id="R659b36bf21474795" /><Relationship Type="http://schemas.openxmlformats.org/officeDocument/2006/relationships/image" Target="/ppt/media/image7.svg" Id="Rca62d9f368864a13" /><Relationship Type="http://schemas.openxmlformats.org/officeDocument/2006/relationships/image" Target="/ppt/media/image8.png" Id="R391c8d7177e44c5b" /><Relationship Type="http://schemas.openxmlformats.org/officeDocument/2006/relationships/image" Target="/ppt/media/image8.svg" Id="R2038b67ea2aa4f97" /><Relationship Type="http://schemas.openxmlformats.org/officeDocument/2006/relationships/image" Target="/ppt/media/image9.png" Id="R396d98e560b74e2a" /><Relationship Type="http://schemas.openxmlformats.org/officeDocument/2006/relationships/image" Target="/ppt/media/image9.svg" Id="Reb29e0bdb18d4b06" /><Relationship Type="http://schemas.openxmlformats.org/officeDocument/2006/relationships/image" Target="/ppt/media/image10.png" Id="Rd53f3f4dd1744578" /><Relationship Type="http://schemas.openxmlformats.org/officeDocument/2006/relationships/image" Target="/ppt/media/image10.svg" Id="R8ae48dde76af47fb" /><Relationship Type="http://schemas.openxmlformats.org/officeDocument/2006/relationships/image" Target="/ppt/media/image11.png" Id="R590145365f694cb7" /><Relationship Type="http://schemas.openxmlformats.org/officeDocument/2006/relationships/image" Target="/ppt/media/image11.svg" Id="Rb4a04306c09a4744" /><Relationship Type="http://schemas.openxmlformats.org/officeDocument/2006/relationships/notesSlide" Target="/ppt/notesSlides/notesSlide4.xml" Id="R3d0bf1e0ed614b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5229b10d5a4572" /><Relationship Type="http://schemas.openxmlformats.org/officeDocument/2006/relationships/image" Target="/ppt/media/image12.png" Id="Rdae40230b6d54f27" /><Relationship Type="http://schemas.openxmlformats.org/officeDocument/2006/relationships/image" Target="/ppt/media/image12.svg" Id="R44bf6e9836d04fac" /><Relationship Type="http://schemas.openxmlformats.org/officeDocument/2006/relationships/notesSlide" Target="/ppt/notesSlides/notesSlide5.xml" Id="Rc62854b269ad42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3c514d325144d6" /><Relationship Type="http://schemas.openxmlformats.org/officeDocument/2006/relationships/notesSlide" Target="/ppt/notesSlides/notesSlide6.xml" Id="R632d2755009241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4a78e59f4944f5" /><Relationship Type="http://schemas.openxmlformats.org/officeDocument/2006/relationships/image" Target="/ppt/media/image13.png" Id="R465f7fd6fa414114" /><Relationship Type="http://schemas.openxmlformats.org/officeDocument/2006/relationships/image" Target="/ppt/media/image13.svg" Id="Rb4c98e34da6e4063" /><Relationship Type="http://schemas.openxmlformats.org/officeDocument/2006/relationships/image" Target="/ppt/media/image14.png" Id="R58250a5de12c41b3" /><Relationship Type="http://schemas.openxmlformats.org/officeDocument/2006/relationships/image" Target="/ppt/media/image14.svg" Id="R63f586d4d4ed413e" /><Relationship Type="http://schemas.openxmlformats.org/officeDocument/2006/relationships/image" Target="/ppt/media/image15.png" Id="Ra7dcf18f76254788" /><Relationship Type="http://schemas.openxmlformats.org/officeDocument/2006/relationships/image" Target="/ppt/media/image15.svg" Id="Rea597e346acd4d7b" /><Relationship Type="http://schemas.openxmlformats.org/officeDocument/2006/relationships/image" Target="/ppt/media/image16.png" Id="Rddf840ee0e41472c" /><Relationship Type="http://schemas.openxmlformats.org/officeDocument/2006/relationships/image" Target="/ppt/media/image16.svg" Id="R59b64e5cdaed4b44" /><Relationship Type="http://schemas.openxmlformats.org/officeDocument/2006/relationships/image" Target="/ppt/media/image17.png" Id="R7feccf1d296e40ca" /><Relationship Type="http://schemas.openxmlformats.org/officeDocument/2006/relationships/image" Target="/ppt/media/image17.svg" Id="Rb640b13c01cc4364" /><Relationship Type="http://schemas.openxmlformats.org/officeDocument/2006/relationships/image" Target="/ppt/media/image18.png" Id="R5b0fd34e412b4b68" /><Relationship Type="http://schemas.openxmlformats.org/officeDocument/2006/relationships/image" Target="/ppt/media/image18.svg" Id="R58d102e5e7c14b61" /><Relationship Type="http://schemas.openxmlformats.org/officeDocument/2006/relationships/notesSlide" Target="/ppt/notesSlides/notesSlide7.xml" Id="Reba5228c8cf141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ab6e5f7ad34b77" /><Relationship Type="http://schemas.openxmlformats.org/officeDocument/2006/relationships/image" Target="/ppt/media/image19.png" Id="Rface44b3c359493f" /><Relationship Type="http://schemas.openxmlformats.org/officeDocument/2006/relationships/image" Target="/ppt/media/image19.svg" Id="R687ae14e2e9b4e1b" /><Relationship Type="http://schemas.openxmlformats.org/officeDocument/2006/relationships/image" Target="/ppt/media/image20.png" Id="R1c88ec720b7b43cc" /><Relationship Type="http://schemas.openxmlformats.org/officeDocument/2006/relationships/image" Target="/ppt/media/image20.svg" Id="Rff67d55c11134a76" /><Relationship Type="http://schemas.openxmlformats.org/officeDocument/2006/relationships/image" Target="/ppt/media/image21.png" Id="Rd9d4b31163c84ecb" /><Relationship Type="http://schemas.openxmlformats.org/officeDocument/2006/relationships/image" Target="/ppt/media/image21.svg" Id="Re3931424cf6b4b19" /><Relationship Type="http://schemas.openxmlformats.org/officeDocument/2006/relationships/image" Target="/ppt/media/image22.png" Id="Rb08879c3ad2a419b" /><Relationship Type="http://schemas.openxmlformats.org/officeDocument/2006/relationships/image" Target="/ppt/media/image22.svg" Id="R909b3aedd69f48ed" /><Relationship Type="http://schemas.openxmlformats.org/officeDocument/2006/relationships/notesSlide" Target="/ppt/notesSlides/notesSlide8.xml" Id="R633fc64339f04c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ad433be01747df" /><Relationship Type="http://schemas.openxmlformats.org/officeDocument/2006/relationships/image" Target="/ppt/media/image23.png" Id="Rf2fa3c4a986e4608" /><Relationship Type="http://schemas.openxmlformats.org/officeDocument/2006/relationships/image" Target="/ppt/media/image23.svg" Id="R0db3e198c91348d3" /><Relationship Type="http://schemas.openxmlformats.org/officeDocument/2006/relationships/image" Target="/ppt/media/image24.png" Id="Rfd97121d96e844da" /><Relationship Type="http://schemas.openxmlformats.org/officeDocument/2006/relationships/image" Target="/ppt/media/image24.svg" Id="R806dbb299f4f473d" /><Relationship Type="http://schemas.openxmlformats.org/officeDocument/2006/relationships/image" Target="/ppt/media/image25.png" Id="R86f8b0a49a654cdd" /><Relationship Type="http://schemas.openxmlformats.org/officeDocument/2006/relationships/image" Target="/ppt/media/image25.svg" Id="R9673238d20fb47b7" /><Relationship Type="http://schemas.openxmlformats.org/officeDocument/2006/relationships/image" Target="/ppt/media/image26.png" Id="R745f89360e124ce9" /><Relationship Type="http://schemas.openxmlformats.org/officeDocument/2006/relationships/image" Target="/ppt/media/image26.svg" Id="Rb2e0b7f03ddb4c80" /><Relationship Type="http://schemas.openxmlformats.org/officeDocument/2006/relationships/notesSlide" Target="/ppt/notesSlides/notesSlide9.xml" Id="R4e8d7ac1b231459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6A52D0-9919-4538-86FF-071B4E52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2BEB7-C038-4A25-9243-D90FF746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6C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Product concept / AI travel planning">
            <a:extLst xmlns:a="http://schemas.openxmlformats.org/drawingml/2006/main">
              <a:ext uri="{FF2B5EF4-FFF2-40B4-BE49-F238E27FC236}">
                <a16:creationId xmlns:a16="http://schemas.microsoft.com/office/drawing/2014/main" id="{1F16CE4F-A2CD-4EDA-AF7D-87B4B73B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975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5D6975"/>
                </a:solidFill>
                <a:latin typeface="Aptos Mono"/>
                <a:ea typeface="Aptos Mono"/>
                <a:cs typeface="Aptos Mono"/>
              </a:rPr>
              <a:t>PRODUCT CONCEPT / AI TRAVEL PLANNING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BF7E8-CC81-4129-AEB9-316EA66F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6572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Automatic travel planning turns social inspiration into a visit-ready itinerary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32187-F2CF-4A39-8E5B-1B22933F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561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An AI agent collects public trend signals about the place a traveller wants to visit, verifies the real-world constraints, and prepares a practical plan for where to go, when to go, and why it fits.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12DE3-A789-463B-AEB8-9E54436A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5D3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4D571-4001-4099-9B9A-890D9677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242D1-97A2-47EA-B307-0BC4C032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211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85D3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85D3F"/>
                </a:solidFill>
                <a:latin typeface="Aptos Display"/>
                <a:ea typeface="Aptos Display"/>
                <a:cs typeface="Aptos Display"/>
              </a:rPr>
              <a:t>60%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F3882-3BDB-492B-B1D3-20B67832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research travel details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672762-4B8F-4887-8145-FE43F76F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TikTok users researching airlines, stays, activities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86E7A0-9409-4083-9405-76C50EF9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0050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6C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79631-5724-4EEE-893D-6BCEDE39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005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6C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C661BE-DDE3-43CB-B186-5C085C96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133850"/>
            <a:ext cx="211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6C6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6C6F"/>
                </a:solidFill>
                <a:latin typeface="Aptos Display"/>
                <a:ea typeface="Aptos Display"/>
                <a:cs typeface="Aptos Display"/>
              </a:rPr>
              <a:t>3 in 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27317-1A6D-4A74-8089-40656AFB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7675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search during the trip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FFBC8A-8B59-4647-9297-853CED44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863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TikTok travel ideas can change the plan in-market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7169BA-E88C-44DD-A578-2C6BE0A3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0050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A3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E9BB25-8A96-411B-A9D6-757644E2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005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15F520-72AA-4CB2-AB0C-1EBDD7D7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33850"/>
            <a:ext cx="211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7A33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7A33B"/>
                </a:solidFill>
                <a:latin typeface="Aptos Display"/>
                <a:ea typeface="Aptos Display"/>
                <a:cs typeface="Aptos Display"/>
              </a:rPr>
              <a:t>69%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CFB2CC-7896-4BC3-AFD2-388708D2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47675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expect to use social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80149C-D3A6-4AEC-A5B4-A78C8491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863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Consumers anticipating social for travel planning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9E7C01-C067-40E3-9665-B9464453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781050"/>
            <a:ext cx="278130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A"/>
          </a:solidFill>
          <a:ln xmlns:a="http://schemas.openxmlformats.org/drawingml/2006/main" w="9525">
            <a:solidFill>
              <a:srgbClr val="000000">
                <a:alpha val="18824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44AC8C-9558-4768-B001-712D784F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952500"/>
            <a:ext cx="24384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2E30D6-5907-4A6A-846D-562ED0CE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876300"/>
            <a:ext cx="838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02E7F9-9179-41B2-854D-BE8FF10E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23950"/>
            <a:ext cx="2019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Destination: Sydney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09E8E5-F1DC-49F7-9E09-1B409C40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6685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5D3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4B2664-E489-4301-BD88-7B7F64F0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800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D85D3F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D85D3F"/>
                </a:solidFill>
                <a:latin typeface="Aptos Mono"/>
                <a:ea typeface="Aptos Mono"/>
                <a:cs typeface="Aptos Mono"/>
              </a:rPr>
              <a:t>#SydneyEats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D621B8-FC1D-476B-ABF0-521845A0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466850"/>
            <a:ext cx="102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6C6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7E22B1-73C9-4EE8-AE6E-BB0DCE56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524000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06C6F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106C6F"/>
                </a:solidFill>
                <a:latin typeface="Aptos Mono"/>
                <a:ea typeface="Aptos Mono"/>
                <a:cs typeface="Aptos Mono"/>
              </a:rPr>
              <a:t>#coastalwalk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A9AD01-7C25-4B9E-8C7C-6CE5C456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478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A3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130D9B-761A-46DD-82BF-CCBCACEA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05000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D7A33B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D7A33B"/>
                </a:solidFill>
                <a:latin typeface="Aptos Mono"/>
                <a:ea typeface="Aptos Mono"/>
                <a:cs typeface="Aptos Mono"/>
              </a:rPr>
              <a:t>#budgettravel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91C0A4-8FF9-4381-9F30-13A69579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1"/>
          </a:solidFill>
          <a:ln xmlns:a="http://schemas.openxmlformats.org/drawingml/2006/main" w="9525">
            <a:solidFill>
              <a:srgbClr val="7CC9BE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667f7603a4e64">
            <a:extLst>
              <a:ext uri="{96DAC541-7B7A-43D3-8B79-37D633B846F1}">
                <asvg:svgBlip xmlns:asvg="http://schemas.microsoft.com/office/drawing/2016/SVG/main" r:embed="R836cf5dbbc0e44a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91600" y="25717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5B0272-D475-44C8-A11D-5B35748E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14600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Agent extracts places, vibe, price, distance, and best visit window.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BB1CF5-B414-46DD-9258-112BB865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71900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6C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E2BBE1-89C0-4EBE-AF1F-4A86935D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76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5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341937-A988-4AC5-AE18-140C3C28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76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20DB9E-F332-4DB6-BBC1-D5B28E8C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676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6C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029E33-A880-43A2-87F3-6C4D0CCE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9100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TrendTrip AI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A9CC82-CF5E-4970-9C5C-788C6DD6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1485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Inspiration -&gt; feasible route -&gt; live adjustments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FCD1C7-0C13-46D2-A774-11EB605A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829300"/>
            <a:ext cx="2781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8B2037-B49E-417E-B256-1DFA9148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1365883-9BCC-49C2-B7C7-1AA56A02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D6975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5D6975"/>
                </a:solidFill>
                <a:latin typeface="Aptos Mono"/>
                <a:ea typeface="Aptos Mono"/>
                <a:cs typeface="Aptos Mono"/>
              </a:rPr>
              <a:t>IDEA PITCH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162947-1DDE-4778-B0E7-B85DF88D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389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A96A3"/>
                </a:solidFill>
                <a:latin typeface="Aptos Mono"/>
                <a:ea typeface="Aptos Mono"/>
                <a:cs typeface="Aptos Mono"/>
              </a:defRPr>
            </a:pPr>
            <a:r>
              <a:rPr sz="563" b="0">
                <a:solidFill>
                  <a:srgbClr val="8A96A3"/>
                </a:solidFill>
                <a:latin typeface="Aptos Mono"/>
                <a:ea typeface="Aptos Mono"/>
                <a:cs typeface="Aptos Mono"/>
              </a:rPr>
              <a:t>Sources: TikTok For Business 2024; Sprout Social Q3 2025 Pulse Survey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E7056D-B845-487C-8438-86F87643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627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590527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1B6A8A-77AC-4DF2-B102-E2C8BB66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81023-6CDF-4205-A4ED-8DDF7693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6C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Problem">
            <a:extLst xmlns:a="http://schemas.openxmlformats.org/drawingml/2006/main">
              <a:ext uri="{FF2B5EF4-FFF2-40B4-BE49-F238E27FC236}">
                <a16:creationId xmlns:a16="http://schemas.microsoft.com/office/drawing/2014/main" id="{A2CED7D4-9FAE-426C-B6BD-B928C366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975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5D6975"/>
                </a:solidFill>
                <a:latin typeface="Aptos Mono"/>
                <a:ea typeface="Aptos Mono"/>
                <a:cs typeface="Aptos Mono"/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F1A7FB-0744-4718-8FA9-EA6E3B0A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7429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Travel discovery moved faster than itinerary tools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099ED-A008-4683-A4B3-35333319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6524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Short-form video now shapes where people want to go, but saved posts do not know opening hours, distance, crowding, weather, budget, or a traveller's pace.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0DB65-AC74-4B46-AE6B-EECC5221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5048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5DBBC5-D2A1-4524-B9D4-BC1CDE5D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3143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8A96A3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8A96A3"/>
                </a:solidFill>
                <a:latin typeface="Aptos Mono"/>
                <a:ea typeface="Aptos Mono"/>
                <a:cs typeface="Aptos Mono"/>
              </a:rPr>
              <a:t>US TRAVELLERS USING TIKTOK TO PLAN TRIPS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7E0B57-52F5-4F1E-818C-941765E4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7CF761-1B64-476A-BED9-7FCD0E7C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5622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DA613A-2885-4D51-B28F-0B9413B4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Gen 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D45786-7D24-469E-9D97-735D9C44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5052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5D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5D3F"/>
                </a:solidFill>
                <a:latin typeface="Aptos"/>
                <a:ea typeface="Aptos"/>
                <a:cs typeface="Aptos"/>
              </a:rPr>
              <a:t>42%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9BE483-6F45-44D4-9E8E-3244E5E2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48125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E89B0F-6105-4F5D-A6B5-B2677CDB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48125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6C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48F07C-D133-4BF1-9BCF-2AFCEB66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Millennial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6FDA2F-68DB-40E4-8F12-23438C12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2907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6C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6C6F"/>
                </a:solidFill>
                <a:latin typeface="Aptos"/>
                <a:ea typeface="Aptos"/>
                <a:cs typeface="Aptos"/>
              </a:rPr>
              <a:t>26%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29554F-0847-40D9-B905-F0FF6BE4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14A9B5-05F6-463F-9B17-0AB170A7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7334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EA93DA-8A2B-4EF8-9E5C-4A6F1A13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Gen 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59A09C-E151-4197-B7FA-547FF2CF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5529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A3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7A33B"/>
                </a:solidFill>
                <a:latin typeface="Aptos"/>
                <a:ea typeface="Aptos"/>
                <a:cs typeface="Aptos"/>
              </a:rPr>
              <a:t>12%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E68733-73CC-496D-8594-7B1BA114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665B48-01DA-4D41-B061-38208418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1809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DE666B-3115-4EC3-8350-1E7752E2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0537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Boomer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2406CB-1C0D-45CF-A26B-E523353F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07682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ED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6EDB"/>
                </a:solidFill>
                <a:latin typeface="Aptos"/>
                <a:ea typeface="Aptos"/>
                <a:cs typeface="Aptos"/>
              </a:rPr>
              <a:t>3%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F62CF6-6536-4541-BCB7-68D85F35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28950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Younger travellers lead the shift.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E8E904-C731-491D-9FEB-B14008AB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43200"/>
            <a:ext cx="41719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3AADEC-EF37-450F-B7C3-2CE4FAC1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48000"/>
            <a:ext cx="295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9C7D6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B9C7D6"/>
                </a:solidFill>
                <a:latin typeface="Aptos Mono"/>
                <a:ea typeface="Aptos Mono"/>
                <a:cs typeface="Aptos Mono"/>
              </a:rPr>
              <a:t>WHAT BREAKS WHEN PLANNING IS MANUAL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08FAF8-C418-4C81-8E5B-4E906FF5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95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C782AF-E806-43C4-9FFC-5E25EFB0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48050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Saved videos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982E18-206F-40E1-8CF8-4EC03D3A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4805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8D2D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8D2DF"/>
                </a:solidFill>
                <a:latin typeface="Aptos"/>
                <a:ea typeface="Aptos"/>
                <a:cs typeface="Aptos"/>
              </a:rPr>
              <a:t>No route, timing, or duplicate detection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1A6270-08C6-4890-A96A-F0A39568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71900"/>
            <a:ext cx="339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B44A33-84B5-46E5-9638-3785CD31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14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9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BC7C5F-A302-4986-83F0-E6FD84A8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67150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Trend hype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257E4C-ECF6-435C-A71B-E06C3E11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6715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8D2D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8D2DF"/>
                </a:solidFill>
                <a:latin typeface="Aptos"/>
                <a:ea typeface="Aptos"/>
                <a:cs typeface="Aptos"/>
              </a:rPr>
              <a:t>Hard to separate authentic demand from paid content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7D9935-A334-4D6E-960E-8E39D19C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339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84FFD8-F9B9-40CB-BFCA-105CA301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33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76CAF1-DC24-432D-8646-8B08BE57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86250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Local checks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746EC4-93F0-470C-9053-7E73110D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8625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8D2D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8D2DF"/>
                </a:solidFill>
                <a:latin typeface="Aptos"/>
                <a:ea typeface="Aptos"/>
                <a:cs typeface="Aptos"/>
              </a:rPr>
              <a:t>Hours, transport, safety, and weather live elsewhere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C4F3C9-F2BC-42F1-8A08-5978A6F7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10100"/>
            <a:ext cx="339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D24C3F-E7B7-45C4-87C5-101991A6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52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B45C66-EF01-4C43-90D4-40748B2B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705350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Group trips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055AD7-DEA7-40AF-92CC-260737C5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0535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8D2D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8D2DF"/>
                </a:solidFill>
                <a:latin typeface="Aptos"/>
                <a:ea typeface="Aptos"/>
                <a:cs typeface="Aptos"/>
              </a:rPr>
              <a:t>Different budgets and preferences create decision fatigue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1B5ED3-09B7-4382-9425-CFCA8E6E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24F18E-1E6D-4E5A-A67C-22D84452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D6975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5D6975"/>
                </a:solidFill>
                <a:latin typeface="Aptos Mono"/>
                <a:ea typeface="Aptos Mono"/>
                <a:cs typeface="Aptos Mono"/>
              </a:rPr>
              <a:t>EVIDENCE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6404526-DDF4-4BDE-B5AF-14E6D6E5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389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A96A3"/>
                </a:solidFill>
                <a:latin typeface="Aptos Mono"/>
                <a:ea typeface="Aptos Mono"/>
                <a:cs typeface="Aptos Mono"/>
              </a:defRPr>
            </a:pPr>
            <a:r>
              <a:rPr sz="563" b="0">
                <a:solidFill>
                  <a:srgbClr val="8A96A3"/>
                </a:solidFill>
                <a:latin typeface="Aptos Mono"/>
                <a:ea typeface="Aptos Mono"/>
                <a:cs typeface="Aptos Mono"/>
              </a:rPr>
              <a:t>Sources: Deloitte 2024; TikTok For Business 2024; Sprout Social 2025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68B724-1072-4733-8BAC-87E6BA8E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627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4422652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2D7E57-8FF1-45E1-9762-6E91BB7F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AF7A2C-DD36-43AB-8796-A9344896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6C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Solution">
            <a:extLst xmlns:a="http://schemas.openxmlformats.org/drawingml/2006/main">
              <a:ext uri="{FF2B5EF4-FFF2-40B4-BE49-F238E27FC236}">
                <a16:creationId xmlns:a16="http://schemas.microsoft.com/office/drawing/2014/main" id="{21FA7F50-47B7-4729-A292-07A6B9D5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975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5D6975"/>
                </a:solidFill>
                <a:latin typeface="Aptos Mono"/>
                <a:ea typeface="Aptos Mono"/>
                <a:cs typeface="Aptos Mono"/>
              </a:rPr>
              <a:t>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1BC333-410F-4067-B9B4-F9F0C695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7334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The agent is a planning system, not another list of attractions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59806-F65F-433C-AEFD-859090F7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33550"/>
            <a:ext cx="704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It listens for destination-specific social signals, understands what each place is good for, then builds a route that respects time, distance, budget, interests, and real-world conditions.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68A6F-3C46-49BE-9846-1AA9AB27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4819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5D3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7646F1-E2E6-4AB6-83EB-A1FCBA65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66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4b5357b13492c">
            <a:extLst>
              <a:ext uri="{96DAC541-7B7A-43D3-8B79-37D633B846F1}">
                <asvg:svgBlip xmlns:asvg="http://schemas.microsoft.com/office/drawing/2016/SVG/main" r:embed="R8c692b219b85430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8700" y="294322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B0788D-EF5E-49FC-8174-5D1C4A1E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05125"/>
            <a:ext cx="1714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Trend signal collector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32A56B-2609-4248-964B-1D1F94A0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0515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Public/permissioned posts, hashtags, creator captions, comments, saves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08261A-0B02-4510-BF2A-63AE79E1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33750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17F03-276F-4995-AC2C-2A24BEB2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4819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6C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0FBCE4-ABC4-449E-A1D3-C31311C3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66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6C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e3f94f649342c1">
            <a:extLst>
              <a:ext uri="{96DAC541-7B7A-43D3-8B79-37D633B846F1}">
                <asvg:svgBlip xmlns:asvg="http://schemas.microsoft.com/office/drawing/2016/SVG/main" r:embed="R20581de840d641b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8700" y="36861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9D7A59-21AE-4C5B-8997-C8EFC693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48075"/>
            <a:ext cx="1714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Place understanding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D15394-DBA8-444B-B24C-BE053305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481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Extract POIs, activity type, vibe, price cues, food style, seasonality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0E74F-391D-4C28-9464-6D62C268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076700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EE84BE-A677-4F89-B037-21634F78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4819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6E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AAB28C-2255-41E2-AE14-73DC8058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66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caf53d55464b91">
            <a:extLst>
              <a:ext uri="{96DAC541-7B7A-43D3-8B79-37D633B846F1}">
                <asvg:svgBlip xmlns:asvg="http://schemas.microsoft.com/office/drawing/2016/SVG/main" r:embed="R897eefcc66384ac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8700" y="442912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AC3339-3DAF-4863-BA22-CF59A394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91025"/>
            <a:ext cx="1714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Feasibility engine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6BD602-2E34-4E16-A8D5-7349A781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9105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Check hours, transit time, weather, safety notes, crowd sensitivity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B2D279-849A-4F99-823E-8E9C7C59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819650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0CCDE7-2B9B-4F26-8DB1-31BF3700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4819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A33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603908-F314-48D0-B556-91CD51D3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66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bf8fd5043446a">
            <a:extLst>
              <a:ext uri="{96DAC541-7B7A-43D3-8B79-37D633B846F1}">
                <asvg:svgBlip xmlns:asvg="http://schemas.microsoft.com/office/drawing/2016/SVG/main" r:embed="R349f9301a653413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8700" y="51720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2479DC-44AF-4CD9-80B5-4A851B9D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33975"/>
            <a:ext cx="1714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Itinerary composer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9E6642-2779-4176-8B8B-DBFF1032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340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Sequence days, balance pace, explain why each stop belongs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2F3D78-5C3F-42A7-8A7D-411FBE3E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67000"/>
            <a:ext cx="36195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C5ACDD-14EB-4D48-BBED-9EAB67D1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718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9C7D6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B9C7D6"/>
                </a:solidFill>
                <a:latin typeface="Aptos Mono"/>
                <a:ea typeface="Aptos Mono"/>
                <a:cs typeface="Aptos Mono"/>
              </a:rPr>
              <a:t>GENERATED ITINERARY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107CFB-1DAE-4DA2-9E66-643B8BEB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33750"/>
            <a:ext cx="2552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Day plan: coast + culture + food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55386D-78AB-4581-ADCD-9B398DD0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862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CC9BE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CC9BE"/>
                </a:solidFill>
                <a:latin typeface="Aptos Mono"/>
                <a:ea typeface="Aptos Mono"/>
                <a:cs typeface="Aptos Mono"/>
              </a:rPr>
              <a:t>09:00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A88B30-6EDE-4289-A07A-3715898F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8620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Bondi sunrise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844FAB-3B7A-40B5-8B50-F29886F2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8620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B9C7D6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B9C7D6"/>
                </a:solidFill>
                <a:latin typeface="Aptos"/>
                <a:ea typeface="Aptos"/>
                <a:cs typeface="Aptos"/>
              </a:rPr>
              <a:t>high visual fit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AB5B6E-3AFB-465B-9E0E-48CA4F90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076700"/>
            <a:ext cx="19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3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ADC26F-90A9-4945-AC53-D5ADC7FA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672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CC9BE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CC9BE"/>
                </a:solidFill>
                <a:latin typeface="Aptos Mono"/>
                <a:ea typeface="Aptos Mono"/>
                <a:cs typeface="Aptos Mono"/>
              </a:rPr>
              <a:t>11:30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9A5E33-61DE-4CE9-9016-B2A1E4EB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6720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Coastal walk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345DB2-5F87-4EC7-96BB-2261FB2A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6720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B9C7D6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B9C7D6"/>
                </a:solidFill>
                <a:latin typeface="Aptos"/>
                <a:ea typeface="Aptos"/>
                <a:cs typeface="Aptos"/>
              </a:rPr>
              <a:t>low transport friction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690031-A931-4A53-8FFC-A0467FBB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457700"/>
            <a:ext cx="19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3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FB2996-B5F2-40E2-BC5C-98E94285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482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CC9BE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CC9BE"/>
                </a:solidFill>
                <a:latin typeface="Aptos Mono"/>
                <a:ea typeface="Aptos Mono"/>
                <a:cs typeface="Aptos Mono"/>
              </a:rPr>
              <a:t>14:00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B059B3-D84C-4B8B-8DF2-B90C0696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4820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Newtown lunch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1673DC-A330-4404-9525-59EF7E3B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4820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B9C7D6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B9C7D6"/>
                </a:solidFill>
                <a:latin typeface="Aptos"/>
                <a:ea typeface="Aptos"/>
                <a:cs typeface="Aptos"/>
              </a:rPr>
              <a:t>matches food interest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A705C9-1339-405B-9B50-203C5B33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838700"/>
            <a:ext cx="19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3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BB35FA-FCAF-4F71-A2BC-EE6275A8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292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CC9BE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CC9BE"/>
                </a:solidFill>
                <a:latin typeface="Aptos Mono"/>
                <a:ea typeface="Aptos Mono"/>
                <a:cs typeface="Aptos Mono"/>
              </a:rPr>
              <a:t>18:30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D11BB1A-341E-4E48-B9F9-59EF00A8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2920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Harbour sunset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B40BC41-0A85-4387-A85A-89A74AC1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02920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B9C7D6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B9C7D6"/>
                </a:solidFill>
                <a:latin typeface="Aptos"/>
                <a:ea typeface="Aptos"/>
                <a:cs typeface="Aptos"/>
              </a:rPr>
              <a:t>best time window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035BD40-3931-4A5B-9ECD-BD24C04C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AEA6B50-6F8C-4195-9F3F-AFDCD975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D6975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5D6975"/>
                </a:solidFill>
                <a:latin typeface="Aptos Mono"/>
                <a:ea typeface="Aptos Mono"/>
                <a:cs typeface="Aptos Mono"/>
              </a:rPr>
              <a:t>PRODUCT THESIS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0CDF6E8-4355-4BB9-94EB-6735EBE3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389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A96A3"/>
                </a:solidFill>
                <a:latin typeface="Aptos Mono"/>
                <a:ea typeface="Aptos Mono"/>
                <a:cs typeface="Aptos Mono"/>
              </a:defRPr>
            </a:pPr>
            <a:r>
              <a:rPr sz="563" b="0">
                <a:solidFill>
                  <a:srgbClr val="8A96A3"/>
                </a:solidFill>
                <a:latin typeface="Aptos Mono"/>
                <a:ea typeface="Aptos Mono"/>
                <a:cs typeface="Aptos Mono"/>
              </a:rPr>
              <a:t>Planner combines social freshness with verified travel constraints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D674FF7-FC80-40E4-A0F3-F34ADA8B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627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6030474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3DA4C9-0F84-4D25-BAD6-1A97B242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EF1E7-AED4-4FB8-A364-FC0FC34E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6C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Agent architecture">
            <a:extLst xmlns:a="http://schemas.openxmlformats.org/drawingml/2006/main">
              <a:ext uri="{FF2B5EF4-FFF2-40B4-BE49-F238E27FC236}">
                <a16:creationId xmlns:a16="http://schemas.microsoft.com/office/drawing/2014/main" id="{D37F0B31-9EAE-4C06-911C-4C84DD3B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975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5D6975"/>
                </a:solidFill>
                <a:latin typeface="Aptos Mono"/>
                <a:ea typeface="Aptos Mono"/>
                <a:cs typeface="Aptos Mono"/>
              </a:rPr>
              <a:t>AGENT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702A03-12A4-4875-A26C-60F307FE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38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A concrete pipeline turns noisy trend signals into a route the traveller can trust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4B21AA-8C36-46EE-9532-2621E9FF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733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The architecture separates inspiration from verification. Social content proposes candidates; travel data and user constraints decide what actually enters the plan.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B34DB-02E1-43EE-B8D4-39D679F3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16764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6C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739C22-C73A-46A9-9495-5A44ED71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1676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6C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43ff397cb4048">
            <a:extLst>
              <a:ext uri="{96DAC541-7B7A-43D3-8B79-37D633B846F1}">
                <asvg:svgBlip xmlns:asvg="http://schemas.microsoft.com/office/drawing/2016/SVG/main" r:embed="R172780676c6b440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" y="31051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44E892-7F29-4378-A4FC-F77D742C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Trip brief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E8F3B7-C42E-48A1-BE9C-98395814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dates, budget, pace, interests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69EEC4-3698-494F-9581-F68D7953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670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106C6F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106C6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1FE64-15CF-4415-BEB4-34682988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6004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F9EA79-7EEE-4B0D-A4C2-F3189467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57500"/>
            <a:ext cx="16764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5D3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2A311F-2AFC-44D4-A20B-0D8CD020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57500"/>
            <a:ext cx="1676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b36bf21474795">
            <a:extLst>
              <a:ext uri="{96DAC541-7B7A-43D3-8B79-37D633B846F1}">
                <asvg:svgBlip xmlns:asvg="http://schemas.microsoft.com/office/drawing/2016/SVG/main" r:embed="Rca62d9f368864a1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590800" y="31051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A0177F-EDCE-44C2-A6AC-BAA73E44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5433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Trend intake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7A0FEC-3EAF-4EDA-A45D-3F672AE3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57625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public posts, hashtags, creator captions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1726C0-A4AF-4587-9CEC-FED7DC4D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670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D85D3F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D85D3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57E1B6-17BA-42C6-B416-5626455C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6004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58E17B-96AF-434B-9A60-C329E2E7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57500"/>
            <a:ext cx="16764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E5A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BF4822-A445-4E21-B85C-3AF4F1D4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57500"/>
            <a:ext cx="1676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A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1c8d7177e44c5b">
            <a:extLst>
              <a:ext uri="{96DAC541-7B7A-43D3-8B79-37D633B846F1}">
                <asvg:svgBlip xmlns:asvg="http://schemas.microsoft.com/office/drawing/2016/SVG/main" r:embed="R2038b67ea2aa4f9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38650" y="31051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D01732-B439-4CD0-9891-2883B1C9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433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Place extraction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595C79-BCCC-4ADC-875D-DD0C80D5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57625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POIs, food types, activity tags, sentiment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C748F1-30BB-4605-8358-2F3D88AC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670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6E5AD6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6E5AD6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5F4C5A-7A17-48C9-9427-425C9D0C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004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07DB61-28AE-4937-8863-E3864B46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16764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6E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925F37-0217-469E-BB7C-10E60144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1676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6d98e560b74e2a">
            <a:extLst>
              <a:ext uri="{96DAC541-7B7A-43D3-8B79-37D633B846F1}">
                <asvg:svgBlip xmlns:asvg="http://schemas.microsoft.com/office/drawing/2016/SVG/main" r:embed="Reb29e0bdb18d4b0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0" y="31051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14C6E0-2D1D-493F-81F3-00D89B65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Feasibility checks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D213A1-2DFD-460E-BCA3-FF8EF013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7625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hours, routes, weather, safety, crowd risk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67158D-63FF-49F1-A2EB-60805574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670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2E6EDB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2E6EDB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F106BD-96A4-4A6E-942D-E7ED0C7E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004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22C074-D0B5-49F2-8D2E-5DE1011A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57500"/>
            <a:ext cx="16764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A33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308FB6-0F8A-41EC-84E5-35674585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57500"/>
            <a:ext cx="1676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3f3f4dd1744578">
            <a:extLst>
              <a:ext uri="{96DAC541-7B7A-43D3-8B79-37D633B846F1}">
                <asvg:svgBlip xmlns:asvg="http://schemas.microsoft.com/office/drawing/2016/SVG/main" r:embed="R8ae48dde76af47f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34350" y="31051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35E57B-961B-456A-9D87-2F2E6E2F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433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Plan optimizer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BC19B1-71C2-473A-BA0E-505ABC33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57625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cluster stops, time windows, alternates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ED4AD3-0359-4AE0-B55D-5A1DDF18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670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D7A33B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D7A33B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42BD36-2BE6-4672-A9A3-6DE1327F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004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20AF1B-3F30-4AE9-8E15-3E8B824D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57500"/>
            <a:ext cx="16764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D8B5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A5B3FF-196F-4427-A529-574FBC8B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57500"/>
            <a:ext cx="1676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0145365f694cb7">
            <a:extLst>
              <a:ext uri="{96DAC541-7B7A-43D3-8B79-37D633B846F1}">
                <asvg:svgBlip xmlns:asvg="http://schemas.microsoft.com/office/drawing/2016/SVG/main" r:embed="Rb4a04306c09a474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82200" y="31051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4E4093-92C4-4F54-9AD6-70E7D1FE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5433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Live itinerary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582E5C-DD97-40B3-8D3E-93346F3B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857625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explained plan, map, booking handoff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ABA5C2-DC84-45D8-9D5D-8C0CB0FA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670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3D8B5A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3D8B5A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B6B2E25-B46B-48DD-A64E-F10A030C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9886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C"/>
          </a:solidFill>
          <a:ln xmlns:a="http://schemas.openxmlformats.org/drawingml/2006/main" w="9525">
            <a:solidFill>
              <a:srgbClr val="D6DDD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C671F0-7E4B-4680-AB64-C816B3CD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29200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Key guardrail: every recommendation carries a reason code and a verification status.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02491C-D851-4808-8FED-BCC9677F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10150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Example reason codes: social momentum, food fit, budget fit, transport fit, opening-hours verified, weather alternate ready.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BA8C082-4E7F-441E-8A59-DEBC58D9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ECFB44D-BBA5-4130-B5F8-D70EE0D6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D6975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5D6975"/>
                </a:solidFill>
                <a:latin typeface="Aptos Mono"/>
                <a:ea typeface="Aptos Mono"/>
                <a:cs typeface="Aptos Mono"/>
              </a:rPr>
              <a:t>SYSTEM MAP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D79B54D-5AE2-4E1C-8430-D6F73222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389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A96A3"/>
                </a:solidFill>
                <a:latin typeface="Aptos Mono"/>
                <a:ea typeface="Aptos Mono"/>
                <a:cs typeface="Aptos Mono"/>
              </a:defRPr>
            </a:pPr>
            <a:r>
              <a:rPr sz="563" b="0">
                <a:solidFill>
                  <a:srgbClr val="8A96A3"/>
                </a:solidFill>
                <a:latin typeface="Aptos Mono"/>
                <a:ea typeface="Aptos Mono"/>
                <a:cs typeface="Aptos Mono"/>
              </a:rPr>
              <a:t>No platform logos used; social data assumed public/permissioned or API-compliant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124F66D-5121-4F8E-83AA-9F6BF150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627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8459862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DB5F87-2A38-436A-AF4C-57AAB822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D9A94-AF77-47BD-8763-CD48400F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6C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Traveller experience">
            <a:extLst xmlns:a="http://schemas.openxmlformats.org/drawingml/2006/main">
              <a:ext uri="{FF2B5EF4-FFF2-40B4-BE49-F238E27FC236}">
                <a16:creationId xmlns:a16="http://schemas.microsoft.com/office/drawing/2014/main" id="{D7B2691A-D5A4-45DA-83EB-9AC27D7A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975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5D6975"/>
                </a:solidFill>
                <a:latin typeface="Aptos Mono"/>
                <a:ea typeface="Aptos Mono"/>
                <a:cs typeface="Aptos Mono"/>
              </a:rPr>
              <a:t>TRAVELLER 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AAC38-4D69-4CCD-813C-603362B2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001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The user sees a simple planning conversation, not the complexity underneath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5548E-77A4-4235-9EEC-BC59E9BF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The agent asks for enough information to personalise the plan, then keeps the traveller in control with clear tradeoffs and editable constraints.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3D8569-164E-45EE-B474-90389522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0289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A"/>
          </a:solidFill>
          <a:ln xmlns:a="http://schemas.openxmlformats.org/drawingml/2006/main" w="9525">
            <a:solidFill>
              <a:srgbClr val="000000">
                <a:alpha val="18824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50D5F-A4A2-47F1-A8BA-1C6195B8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26860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C8027-F1B8-406D-A85F-EC54C73A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571750"/>
            <a:ext cx="838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A6A86B-0777-44B5-AB11-301F192E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1940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Plan my first 3 days in Seoul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3D2C1E-6A13-4A89-B2B4-E5AEDCA5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21526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Interests: street food, design, night views</a:t>
            </a:r>
          </a:p>
          <a:p xmlns:a="http://schemas.openxmlformats.org/drawingml/2006/main">
            <a:pPr algn="l">
              <a:defRPr sz="8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Budget: moderate</a:t>
            </a:r>
          </a:p>
          <a:p xmlns:a="http://schemas.openxmlformats.org/drawingml/2006/main">
            <a:pPr algn="l">
              <a:defRPr sz="8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Pace: relaxed</a:t>
            </a:r>
          </a:p>
          <a:p xmlns:a="http://schemas.openxmlformats.org/drawingml/2006/main">
            <a:pPr algn="l">
              <a:defRPr sz="8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Avoid: long taxi rides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ABDF20-2F56-4BAE-9337-1D23E300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00550"/>
            <a:ext cx="2057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1"/>
          </a:solidFill>
          <a:ln xmlns:a="http://schemas.openxmlformats.org/drawingml/2006/main" w="9525">
            <a:solidFill>
              <a:srgbClr val="7CC9B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C5B0B5-5A1C-415D-AD41-71E5D4AE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24375"/>
            <a:ext cx="1447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6C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6C6F"/>
                </a:solidFill>
                <a:latin typeface="Aptos"/>
                <a:ea typeface="Aptos"/>
                <a:cs typeface="Aptos"/>
              </a:rPr>
              <a:t>Generate route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147BAF-1FA1-41C2-B450-CA7EDF94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2895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06C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D79C27-E0F2-4FFC-BBC2-C39A4D05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813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6C6F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106C6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F297A6-DEE2-4F84-80C2-451C9497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623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Brief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04F25D-C86A-421E-A64D-6E325070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5285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Traveller intent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1F3D17-39CF-4BDE-97AC-C01F904F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86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C9220D-01E3-4C55-912B-ECE081D4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2895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8D0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D3F810-A9CA-4785-AA95-70AA1079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813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85D3F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D85D3F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1B4332-1F5D-431F-A5FB-C17B650C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5623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Curate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97D712-3A38-4AE2-8EDA-F077B87F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5285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Trend-matched places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D6E8B4-F2F9-43E0-9371-31531E7F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86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5B91BA-3799-4481-9606-BB606D7D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2895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8D0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5C549A-A2E5-417B-9E9B-2B49378D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813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6EDB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2E6EDB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A4A7B3-7686-41D0-91F6-D3C9B602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623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E376E6-FF9F-460F-8B57-E36BF39F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5285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Hours, transit, safety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758795-0CED-46FB-80F8-EFBA4ACD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86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F9A661-7FB3-455A-A57E-D06EA156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2895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8D0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BFB44A-F6AC-4AAD-96D7-627EF5B5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813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A33B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D7A33B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5E214B-E997-4046-91CF-D7014FAF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Sequence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EEBC37-499F-433C-9B81-11A42D9F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5285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Route by time windows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508782-12A1-4469-A214-E81EBEF7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86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814676-C8A5-4DF4-83D7-CCEF68D9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2895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8D0D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7E8976-2749-4B03-9074-C84F15D1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813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B5A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3D8B5A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CBA6CF-0D15-45A7-9312-23104F2B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623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Adapt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ED19AC-FFF8-45AD-81CE-6BB95E44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5285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Live weather and fatigue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0F05FC-BCDD-4C4C-8C91-B1DF0A01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33900"/>
            <a:ext cx="5848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5908DA-2B99-4A4C-A377-7284C304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434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9C7D6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B9C7D6"/>
                </a:solidFill>
                <a:latin typeface="Aptos Mono"/>
                <a:ea typeface="Aptos Mono"/>
                <a:cs typeface="Aptos Mono"/>
              </a:rPr>
              <a:t>HUMAN CONTROLS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47AFFE-1741-4E05-8A33-B641C3B8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67300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ABFCF9-3A93-4283-A722-884D9505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673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9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E3017C-E1E3-47D2-85E3-26E6BC26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578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D5DEE8"/>
                </a:solidFill>
                <a:latin typeface="Aptos"/>
                <a:ea typeface="Aptos"/>
                <a:cs typeface="Aptos"/>
              </a:defRPr>
            </a:pPr>
            <a:r>
              <a:rPr sz="540" b="0">
                <a:solidFill>
                  <a:srgbClr val="D5DEE8"/>
                </a:solidFill>
                <a:latin typeface="Aptos"/>
                <a:ea typeface="Aptos"/>
                <a:cs typeface="Aptos"/>
              </a:rPr>
              <a:t>budget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CB9436-5A0F-4B8E-934C-03767DF5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067300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5DE559-2846-47C0-819B-460FA7A4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067300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B93C83-4AE2-4E02-9653-F2602B09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2578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D5DEE8"/>
                </a:solidFill>
                <a:latin typeface="Aptos"/>
                <a:ea typeface="Aptos"/>
                <a:cs typeface="Aptos"/>
              </a:defRPr>
            </a:pPr>
            <a:r>
              <a:rPr sz="540" b="0">
                <a:solidFill>
                  <a:srgbClr val="D5DEE8"/>
                </a:solidFill>
                <a:latin typeface="Aptos"/>
                <a:ea typeface="Aptos"/>
                <a:cs typeface="Aptos"/>
              </a:rPr>
              <a:t>pace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D33F8B-7799-4047-9AF2-92F784C4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067300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195088-EF96-4A3C-A327-E292568C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0673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1C6C87-B7A0-4E00-917E-9657FFAE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2578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D5DEE8"/>
                </a:solidFill>
                <a:latin typeface="Aptos"/>
                <a:ea typeface="Aptos"/>
                <a:cs typeface="Aptos"/>
              </a:defRPr>
            </a:pPr>
            <a:r>
              <a:rPr sz="540" b="0">
                <a:solidFill>
                  <a:srgbClr val="D5DEE8"/>
                </a:solidFill>
                <a:latin typeface="Aptos"/>
                <a:ea typeface="Aptos"/>
                <a:cs typeface="Aptos"/>
              </a:rPr>
              <a:t>accessibility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CF78FA-9F9E-4C61-819A-C03969C8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67300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A8205A9-281C-47F3-B05D-12E65FC2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673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BE9AB4D-3EC8-43A9-88AA-012CFB3B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578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D5DEE8"/>
                </a:solidFill>
                <a:latin typeface="Aptos"/>
                <a:ea typeface="Aptos"/>
                <a:cs typeface="Aptos"/>
              </a:defRPr>
            </a:pPr>
            <a:r>
              <a:rPr sz="540" b="0">
                <a:solidFill>
                  <a:srgbClr val="D5DEE8"/>
                </a:solidFill>
                <a:latin typeface="Aptos"/>
                <a:ea typeface="Aptos"/>
                <a:cs typeface="Aptos"/>
              </a:rPr>
              <a:t>crowd avoidance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768474D-67FB-474A-BAF4-AA819913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67300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B3D6325-961D-443F-81F7-14BE7206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67300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D8DEDB6-DA79-4E8C-A2B1-8D0B296E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578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D5DEE8"/>
                </a:solidFill>
                <a:latin typeface="Aptos"/>
                <a:ea typeface="Aptos"/>
                <a:cs typeface="Aptos"/>
              </a:defRPr>
            </a:pPr>
            <a:r>
              <a:rPr sz="540" b="0">
                <a:solidFill>
                  <a:srgbClr val="D5DEE8"/>
                </a:solidFill>
                <a:latin typeface="Aptos"/>
                <a:ea typeface="Aptos"/>
                <a:cs typeface="Aptos"/>
              </a:rPr>
              <a:t>food style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e40230b6d54f27">
            <a:extLst>
              <a:ext uri="{96DAC541-7B7A-43D3-8B79-37D633B846F1}">
                <asvg:svgBlip xmlns:asvg="http://schemas.microsoft.com/office/drawing/2016/SVG/main" r:embed="R44bf6e9836d04fa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44100" y="47625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098016E-F9CF-467D-8674-C83DFF0A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03886E2-C3A7-4A56-BEBE-22A325EA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D6975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5D6975"/>
                </a:solidFill>
                <a:latin typeface="Aptos Mono"/>
                <a:ea typeface="Aptos Mono"/>
                <a:cs typeface="Aptos Mono"/>
              </a:rPr>
              <a:t>EXPERIENCE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BABDCE8-B681-4E8D-A577-046EF6A7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389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A96A3"/>
                </a:solidFill>
                <a:latin typeface="Aptos Mono"/>
                <a:ea typeface="Aptos Mono"/>
                <a:cs typeface="Aptos Mono"/>
              </a:defRPr>
            </a:pPr>
            <a:r>
              <a:rPr sz="563" b="0">
                <a:solidFill>
                  <a:srgbClr val="8A96A3"/>
                </a:solidFill>
                <a:latin typeface="Aptos Mono"/>
                <a:ea typeface="Aptos Mono"/>
                <a:cs typeface="Aptos Mono"/>
              </a:rPr>
              <a:t>User retains control over pace, budget, accessibility, and itinerary edits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DD29B6D-4D31-43B0-AEBF-163108BB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627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409635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518611-ED8D-4E91-A58B-405CBC9E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267B8-0444-41DA-9C24-0A3F8E4B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6C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Example output">
            <a:extLst xmlns:a="http://schemas.openxmlformats.org/drawingml/2006/main">
              <a:ext uri="{FF2B5EF4-FFF2-40B4-BE49-F238E27FC236}">
                <a16:creationId xmlns:a16="http://schemas.microsoft.com/office/drawing/2014/main" id="{EB1043B3-F94E-43EA-9E4F-E18A8719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975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5D6975"/>
                </a:solidFill>
                <a:latin typeface="Aptos Mono"/>
                <a:ea typeface="Aptos Mono"/>
                <a:cs typeface="Aptos Mono"/>
              </a:rPr>
              <a:t>EXAMPLE OUTPUT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F9F24-B18E-4462-A4DA-D253A321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191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Illustrative Sydney weekend plan shows how the agent explains each visit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E26D9-500B-43D4-97EA-CEBD05C3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3355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Scenario: first-time traveller, food plus coast, moderate budget, wants social-trend inspiration but does not want a rushed route.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583626-4211-4A39-8D21-E2FFC027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8290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ED"/>
          </a:solidFill>
          <a:ln xmlns:a="http://schemas.openxmlformats.org/drawingml/2006/main" w="9525">
            <a:solidFill>
              <a:srgbClr val="D5DF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DBA5F-31F8-4F7B-962E-90986499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8A96A3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8A96A3"/>
                </a:solidFill>
                <a:latin typeface="Aptos Mono"/>
                <a:ea typeface="Aptos Mono"/>
                <a:cs typeface="Aptos Mono"/>
              </a:rPr>
              <a:t>ROUTE LOGIC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EB2C2D-7F86-4BCC-AB11-648E3A94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1475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6C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54153-35AA-4DDC-A602-869CB91E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1475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6C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5016B5-2B90-4350-8DF8-6BF229E4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36245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6C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1F0CE9-1949-4CFF-A553-6432E718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90950"/>
            <a:ext cx="19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6C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E6C51C-37BD-4D18-8A9C-90363EA9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9095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6C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5AF28A-DFB4-4EAB-AA2F-F77D41C1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90950"/>
            <a:ext cx="19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6C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51C9D7-D13B-48F2-94CA-0E424527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38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5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E209EE-C5A5-47B7-B03D-5A9F1A4C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2902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Bondi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E34725-A0CB-4DFF-881A-54004BEB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286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1475D9-D88B-4146-9D68-777BECB7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27672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Newtown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7A1AA7-4650-499F-B4CB-664B30D2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14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E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A07826-A5B4-4439-B3AC-A8CE1E16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0522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Circular Quay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0F1000-1681-45E8-9FD0-FADF8694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762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A33A64-313C-40F1-BA14-16ACECF6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5297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Barangaroo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8140F9-6B65-438D-B038-776753DD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67300"/>
            <a:ext cx="2876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Agent clusters the coast first, then moves inland for lunch and back toward the harbour for evening views.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4A736F-B8DB-42A4-A38F-9C89A53E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47950"/>
            <a:ext cx="57531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D680BA-8DAA-4C7F-9FC9-DE6C85E0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146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8A96A3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8A96A3"/>
                </a:solidFill>
                <a:latin typeface="Aptos Mono"/>
                <a:ea typeface="Aptos Mono"/>
                <a:cs typeface="Aptos Mono"/>
              </a:rPr>
              <a:t>TWO-DAY ITINERARY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E49D6F-B9A9-46C7-8663-487A1ADA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147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06C6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106C6F"/>
                </a:solidFill>
                <a:latin typeface="Aptos Mono"/>
                <a:ea typeface="Aptos Mono"/>
                <a:cs typeface="Aptos Mono"/>
              </a:rPr>
              <a:t>Day 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A092AF-1DC2-4335-BD4A-D86C5032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147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85D3F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D85D3F"/>
                </a:solidFill>
                <a:latin typeface="Aptos Mono"/>
                <a:ea typeface="Aptos Mono"/>
                <a:cs typeface="Aptos Mono"/>
              </a:rPr>
              <a:t>09:00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683673-FC8A-45D5-919E-2F5D9025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14700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Bondi sunrise + coffee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20EB98-80AA-4867-89C6-810E6FC2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14700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visual trend fit; low crowd window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ADACE6-D97D-4AF6-8E9D-A5629330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09975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1CF460-AC49-48B5-971D-02C1A4E4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099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85D3F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D85D3F"/>
                </a:solidFill>
                <a:latin typeface="Aptos Mono"/>
                <a:ea typeface="Aptos Mono"/>
                <a:cs typeface="Aptos Mono"/>
              </a:rPr>
              <a:t>11:00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E262B2-45AA-4F28-A70F-962CCCB1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997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Bondi to Coogee walk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146A24-902E-49CD-91FC-9DE8AEAE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09975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coastal content plus route continuity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509E17-1B3A-421F-A1F2-B351A804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05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82C75E-6B83-4013-B860-8B26F60C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052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85D3F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D85D3F"/>
                </a:solidFill>
                <a:latin typeface="Aptos Mono"/>
                <a:ea typeface="Aptos Mono"/>
                <a:cs typeface="Aptos Mono"/>
              </a:rPr>
              <a:t>14:00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94ECD2-2408-49CC-A550-71E2E83E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Newtown lunch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56B99C-1849-40DC-955D-3095D3D4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05250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food preference; budget-friendly cluster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BF95D5-5AFC-4F76-9EFA-561AEA6E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00525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AD1FF4-9238-49DD-8891-CC85F002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0052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85D3F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D85D3F"/>
                </a:solidFill>
                <a:latin typeface="Aptos Mono"/>
                <a:ea typeface="Aptos Mono"/>
                <a:cs typeface="Aptos Mono"/>
              </a:rPr>
              <a:t>18:00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72F641-CB1E-4145-9DD3-A13ACDB1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0052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Observatory Hill sunset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8389FC-9A1B-45CB-9F6E-F84CC052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00525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time-window recommendation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695E7E-7A17-4F61-B532-6235A390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29125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DEE11D-25FF-48D3-8B24-7A4AE969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958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06C6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106C6F"/>
                </a:solidFill>
                <a:latin typeface="Aptos Mono"/>
                <a:ea typeface="Aptos Mono"/>
                <a:cs typeface="Aptos Mono"/>
              </a:rPr>
              <a:t>Day 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F3301B-51D9-4C26-8522-2855B90F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85D3F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D85D3F"/>
                </a:solidFill>
                <a:latin typeface="Aptos Mono"/>
                <a:ea typeface="Aptos Mono"/>
                <a:cs typeface="Aptos Mono"/>
              </a:rPr>
              <a:t>10:00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89A977-18A4-4700-A5FE-A6B5461C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95800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Rocks + MCA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19666FC-236F-4FB8-9405-2D261D4D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95800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culture stop near harbour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6358A5-A7DA-4498-94C5-E51B438A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791075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086104B-A073-4A0F-80E9-1D9F59D0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910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85D3F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D85D3F"/>
                </a:solidFill>
                <a:latin typeface="Aptos Mono"/>
                <a:ea typeface="Aptos Mono"/>
                <a:cs typeface="Aptos Mono"/>
              </a:rPr>
              <a:t>13:00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2C6562-2480-4887-A324-54B5BC76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9107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Ferry to Manly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B9661D4-BC20-411B-9A8C-DB831A0E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91075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high-value transport experience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F7B0891-2059-4AB4-84DF-D9C3D034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0863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626D684-19F5-40EC-A723-E5ACFB89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0863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85D3F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D85D3F"/>
                </a:solidFill>
                <a:latin typeface="Aptos Mono"/>
                <a:ea typeface="Aptos Mono"/>
                <a:cs typeface="Aptos Mono"/>
              </a:rPr>
              <a:t>16:00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A6306B7-903B-4462-9E49-DA5BE1B8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86350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Shelly Beach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2E543C4-FE32-41E5-A067-35CAEC50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86350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alternate if Bondi is crowded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5076277-A3AD-4A6E-B282-B1F3A8A0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BE8BB2D-FB51-411A-8933-F379D74E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D6975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5D6975"/>
                </a:solidFill>
                <a:latin typeface="Aptos Mono"/>
                <a:ea typeface="Aptos Mono"/>
                <a:cs typeface="Aptos Mono"/>
              </a:rPr>
              <a:t>DEMO ITINERARY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ABAF9C5-59F5-4CE0-AA65-BCA2ACB2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389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A96A3"/>
                </a:solidFill>
                <a:latin typeface="Aptos Mono"/>
                <a:ea typeface="Aptos Mono"/>
                <a:cs typeface="Aptos Mono"/>
              </a:defRPr>
            </a:pPr>
            <a:r>
              <a:rPr sz="563" b="0">
                <a:solidFill>
                  <a:srgbClr val="8A96A3"/>
                </a:solidFill>
                <a:latin typeface="Aptos Mono"/>
                <a:ea typeface="Aptos Mono"/>
                <a:cs typeface="Aptos Mono"/>
              </a:rPr>
              <a:t>Illustrative sample; live destination data not connected in this concept deck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0AF66F8-AB9D-4230-8D11-F94573C4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627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782464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2BFC10-ADB4-4425-AF6C-1D4FDE01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0130F-73C5-49E2-8D1C-668CE9AD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6C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Trust and governance">
            <a:extLst xmlns:a="http://schemas.openxmlformats.org/drawingml/2006/main">
              <a:ext uri="{FF2B5EF4-FFF2-40B4-BE49-F238E27FC236}">
                <a16:creationId xmlns:a16="http://schemas.microsoft.com/office/drawing/2014/main" id="{A5072AC9-E325-4A20-9C1C-271D72C0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975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5D6975"/>
                </a:solidFill>
                <a:latin typeface="Aptos Mono"/>
                <a:ea typeface="Aptos Mono"/>
                <a:cs typeface="Aptos Mono"/>
              </a:rPr>
              <a:t>TRUST AND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23420-AF87-4213-B018-CAC9D62F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7429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Trust is not a compliance slide; it is the product 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0D55D4-64BD-4DC1-A361-DF29B1D0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A travel planner that watches social trends must be explicit about permissions, privacy, provenance, and verification. The agent should explain why it recommends a place and what it checked.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E410A-7431-44A9-8868-32F875FA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3028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06C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DE3D67-51E4-48E3-8EC8-F68C48A9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3028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6C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5f7fd6fa414114">
            <a:extLst>
              <a:ext uri="{96DAC541-7B7A-43D3-8B79-37D633B846F1}">
                <asvg:svgBlip xmlns:asvg="http://schemas.microsoft.com/office/drawing/2016/SVG/main" r:embed="Rb4c98e34da6e406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4400" y="29908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79CC07-11D3-47A6-A5F1-2D5FF35F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5275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Permissioned sources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7159B-9D3C-41ED-BC96-2085F001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0040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Use platform APIs, public data, licensed social listening, or user-provided links.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C39874-524D-416B-B671-E83158F1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43200"/>
            <a:ext cx="3028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5D3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A444C2-F58D-4DE1-97E7-80865451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43200"/>
            <a:ext cx="3028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250a5de12c41b3">
            <a:extLst>
              <a:ext uri="{96DAC541-7B7A-43D3-8B79-37D633B846F1}">
                <asvg:svgBlip xmlns:asvg="http://schemas.microsoft.com/office/drawing/2016/SVG/main" r:embed="R63f586d4d4ed413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29908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CC5B9A-028E-4E05-A174-0DB9330F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5275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No private profiling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8C35FB-31A9-44E0-A848-E7A85949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0040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Do not infer sensitive traits; keep preferences editable and traveller-owned.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0B1C04-54FC-4071-87BE-4BF7CDD1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43200"/>
            <a:ext cx="3028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E6E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1BB90C-C089-4675-912A-56BE5CCF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43200"/>
            <a:ext cx="3028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cf18f76254788">
            <a:extLst>
              <a:ext uri="{96DAC541-7B7A-43D3-8B79-37D633B846F1}">
                <asvg:svgBlip xmlns:asvg="http://schemas.microsoft.com/office/drawing/2016/SVG/main" r:embed="Rea597e346acd4d7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24800" y="29908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85DAE3-11C1-41BE-86C5-8A38D805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5275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Verification before route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2EAC06-9BFF-4232-9AAC-6DB29C25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0040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Check hours, transport, accessibility, weather, safety, and duplicates.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14E6FC-8BE2-40C0-987F-C0CFD573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3028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A3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711042-3F5D-43A2-AB5C-17CF9DC2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3028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f840ee0e41472c">
            <a:extLst>
              <a:ext uri="{96DAC541-7B7A-43D3-8B79-37D633B846F1}">
                <asvg:svgBlip xmlns:asvg="http://schemas.microsoft.com/office/drawing/2016/SVG/main" r:embed="R59b64e5cdaed4b4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4400" y="42100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1C2116-8E7F-40CF-93DD-84515934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Explainable recommendations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D73DD9-ACF0-4747-BBBC-E0FBFBD5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960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Show the reason code behind each stop and the confidence of the signal.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B0A490-2F8A-46DA-B3D5-F6F9251D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62400"/>
            <a:ext cx="3028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3D8B5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53C7D7-43EF-4C50-8C10-8986696E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62400"/>
            <a:ext cx="3028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ccf1d296e40ca">
            <a:extLst>
              <a:ext uri="{96DAC541-7B7A-43D3-8B79-37D633B846F1}">
                <asvg:svgBlip xmlns:asvg="http://schemas.microsoft.com/office/drawing/2016/SVG/main" r:embed="Rb640b13c01cc436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42100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BA2D7D-C5E0-4EF9-B948-66741E68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7195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Over-tourism controls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3FAB7C-AA75-45D5-807C-702DE0F0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1960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Offer quieter alternatives and spread demand beyond one viral spot.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60B801-C66E-4ABA-A59C-27425646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62400"/>
            <a:ext cx="3028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6E5AD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56828A-470D-49A6-B869-4C418D4C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62400"/>
            <a:ext cx="3028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A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fd34e412b4b68">
            <a:extLst>
              <a:ext uri="{96DAC541-7B7A-43D3-8B79-37D633B846F1}">
                <asvg:svgBlip xmlns:asvg="http://schemas.microsoft.com/office/drawing/2016/SVG/main" r:embed="R58d102e5e7c14b6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24800" y="42100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6CC1F1-192D-486A-A2E2-B104EE07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7195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Ad and bias filters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677B65-8988-40EA-B367-AC40B47B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1960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Detect sponsored or repeated content so hype does not dominate the plan.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5BF8F2-CBDD-4478-9A4F-6AA32A06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10039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C11100-9C5F-429D-AD94-BD343083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0067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CC9BE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CC9BE"/>
                </a:solidFill>
                <a:latin typeface="Aptos Mono"/>
                <a:ea typeface="Aptos Mono"/>
                <a:cs typeface="Aptos Mono"/>
              </a:rPr>
              <a:t>DESIGN RULE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F352C6-A5AE-4F34-8248-135CE626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81625"/>
            <a:ext cx="7505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If a destination suggestion cannot be explained and verified, it stays out of the final itinerary.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A7B123-F577-41B1-88D0-E6C3C291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F3A4A4-EDDE-4749-80D0-B8A3C045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D6975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5D6975"/>
                </a:solidFill>
                <a:latin typeface="Aptos Mono"/>
                <a:ea typeface="Aptos Mono"/>
                <a:cs typeface="Aptos Mono"/>
              </a:rPr>
              <a:t>GOVERNANCE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0A6A68-827B-42FB-8E2E-7339A064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389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A96A3"/>
                </a:solidFill>
                <a:latin typeface="Aptos Mono"/>
                <a:ea typeface="Aptos Mono"/>
                <a:cs typeface="Aptos Mono"/>
              </a:defRPr>
            </a:pPr>
            <a:r>
              <a:rPr sz="563" b="0">
                <a:solidFill>
                  <a:srgbClr val="8A96A3"/>
                </a:solidFill>
                <a:latin typeface="Aptos Mono"/>
                <a:ea typeface="Aptos Mono"/>
                <a:cs typeface="Aptos Mono"/>
              </a:rPr>
              <a:t>Sources and data access must comply with platform terms and local privacy law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96F749-AFF7-4B6C-9664-60BD83A9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627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2725553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8F66F6-C0A6-43F6-918E-49E52143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71880E-A100-492A-80AF-4135851C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6C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Business model">
            <a:extLst xmlns:a="http://schemas.openxmlformats.org/drawingml/2006/main">
              <a:ext uri="{FF2B5EF4-FFF2-40B4-BE49-F238E27FC236}">
                <a16:creationId xmlns:a16="http://schemas.microsoft.com/office/drawing/2014/main" id="{A6DFF186-7B23-472A-AF03-05964927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975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5D6975"/>
                </a:solidFill>
                <a:latin typeface="Aptos Mono"/>
                <a:ea typeface="Aptos Mono"/>
                <a:cs typeface="Aptos Mono"/>
              </a:rPr>
              <a:t>BUSINESS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51141-370B-4E18-9A93-10E7CD2E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The product earns when better plans convert inspiration into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5BECF-EB56-41FD-8829-F6A4FB32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704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The strongest model combines a consumer planning surface with booking handoffs and partner intelligence for tourism operators.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B8B4A-6449-4E4E-BD76-A88CBC35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6C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0FCC4-CEDB-4C43-9E9C-8E6B610E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6C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ce44b3c359493f">
            <a:extLst>
              <a:ext uri="{96DAC541-7B7A-43D3-8B79-37D633B846F1}">
                <asvg:svgBlip xmlns:asvg="http://schemas.microsoft.com/office/drawing/2016/SVG/main" r:embed="R687ae14e2e9b4e1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00150" y="2847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193DF-75B7-4481-90BA-45336975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194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Free planner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0BF8C1-7DEE-482B-9AE9-D8284AA1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1940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06C6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106C6F"/>
                </a:solidFill>
                <a:latin typeface="Aptos Mono"/>
                <a:ea typeface="Aptos Mono"/>
                <a:cs typeface="Aptos Mono"/>
              </a:rPr>
              <a:t>Lead capture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136F35-2E53-4669-898A-F5308B41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194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One destination plan, saved places, social-link import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BF1A03-F5B3-4178-A242-F7D1CDFE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38500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AEAE29-80B2-419D-BAC4-3D04BA10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5D3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97FA3A-16D4-45B0-99BA-7CD360DE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88ec720b7b43cc">
            <a:extLst>
              <a:ext uri="{96DAC541-7B7A-43D3-8B79-37D633B846F1}">
                <asvg:svgBlip xmlns:asvg="http://schemas.microsoft.com/office/drawing/2016/SVG/main" r:embed="Rff67d55c11134a7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00150" y="359092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8D2D2E-7722-4CAA-81D4-854477E9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62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Plus plan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179554-93BB-43DA-91BB-A2A8E560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6235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85D3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D85D3F"/>
                </a:solidFill>
                <a:latin typeface="Aptos Mono"/>
                <a:ea typeface="Aptos Mono"/>
                <a:cs typeface="Aptos Mono"/>
              </a:rPr>
              <a:t>Subscription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0FF841-FC53-446B-81C6-18D949F3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623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Multi-city trips, group planning, live trip updates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002053-EEA0-4E46-98B7-196DCFCC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981450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BE76DA-40DB-4C3F-AFBA-33BD8880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A3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1A615C-C971-4405-921D-506A6AF4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d4b31163c84ecb">
            <a:extLst>
              <a:ext uri="{96DAC541-7B7A-43D3-8B79-37D633B846F1}">
                <asvg:svgBlip xmlns:asvg="http://schemas.microsoft.com/office/drawing/2016/SVG/main" r:embed="Re3931424cf6b4b1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00150" y="43338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9E9D50-9FBA-4FA6-A26E-17367BB3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053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Booking handoff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1D80A2-B06F-426A-BC06-B53F9ADF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0530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7A33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D7A33B"/>
                </a:solidFill>
                <a:latin typeface="Aptos Mono"/>
                <a:ea typeface="Aptos Mono"/>
                <a:cs typeface="Aptos Mono"/>
              </a:rPr>
              <a:t>Affiliate / CPA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5FA37C-9339-4B48-94F3-A0CCE5BA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053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Flights, hotels, tours, restaurants, local transport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AB89BC-AA5C-446D-82F3-005F98FC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724400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0018BD-753A-4A0B-BAF0-EAD4305C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6E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D405FD-719B-41DD-8BF9-C973EFB9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8879c3ad2a419b">
            <a:extLst>
              <a:ext uri="{96DAC541-7B7A-43D3-8B79-37D633B846F1}">
                <asvg:svgBlip xmlns:asvg="http://schemas.microsoft.com/office/drawing/2016/SVG/main" r:embed="R909b3aedd69f48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00150" y="507682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F6F7C5-C15F-4998-8A2F-6AA25818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482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Destination dashboard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2C7921-3F7F-40E3-8493-A3880E35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4825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E6ED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2E6EDB"/>
                </a:solidFill>
                <a:latin typeface="Aptos Mono"/>
                <a:ea typeface="Aptos Mono"/>
                <a:cs typeface="Aptos Mono"/>
              </a:rPr>
              <a:t>B2B SaaS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9BDFEE-EFBA-4AFD-AE75-7CA23147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482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Emerging demand, itinerary gaps, dispersion opportunities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B84145-C85F-40A2-9828-6BCDA3C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24150"/>
            <a:ext cx="17716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85A0F5-C386-4CF9-AECB-63CF087A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099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9C7D6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B9C7D6"/>
                </a:solidFill>
                <a:latin typeface="Aptos Mono"/>
                <a:ea typeface="Aptos Mono"/>
                <a:cs typeface="Aptos Mono"/>
              </a:rPr>
              <a:t>PARTNER VALUE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34C92C-004E-4C50-BDD8-8AA5209E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33750"/>
            <a:ext cx="1200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Tourism boards and operators can see what travellers are trying to plan, not just what they eventually book.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9E94AF-B693-4A2F-8E30-D9688199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457700"/>
            <a:ext cx="1181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C8D2DF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C8D2DF"/>
                </a:solidFill>
                <a:latin typeface="Aptos"/>
                <a:ea typeface="Aptos"/>
                <a:cs typeface="Aptos"/>
              </a:rPr>
              <a:t>Outputs: route demand, content gaps, hidden-gem candidates, crowd dispersion.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93E4DE-F835-46D8-8681-DD71336E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19BD5E-D018-491A-94B1-A49234F2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D6975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5D6975"/>
                </a:solidFill>
                <a:latin typeface="Aptos Mono"/>
                <a:ea typeface="Aptos Mono"/>
                <a:cs typeface="Aptos Mono"/>
              </a:rPr>
              <a:t>COMMERCIAL LOGIC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97DBE1-0A2D-4D4B-88FA-9670C17F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389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A96A3"/>
                </a:solidFill>
                <a:latin typeface="Aptos Mono"/>
                <a:ea typeface="Aptos Mono"/>
                <a:cs typeface="Aptos Mono"/>
              </a:defRPr>
            </a:pPr>
            <a:r>
              <a:rPr sz="563" b="0">
                <a:solidFill>
                  <a:srgbClr val="8A96A3"/>
                </a:solidFill>
                <a:latin typeface="Aptos Mono"/>
                <a:ea typeface="Aptos Mono"/>
                <a:cs typeface="Aptos Mono"/>
              </a:rPr>
              <a:t>Revenue paths are conceptual; no market sizing assumed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81C001-EF90-4195-90B6-04220631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627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804732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574BAA-2451-4938-9889-D959CEAF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9933F-0893-47A5-8436-4A162694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6C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MVP roadmap">
            <a:extLst xmlns:a="http://schemas.openxmlformats.org/drawingml/2006/main">
              <a:ext uri="{FF2B5EF4-FFF2-40B4-BE49-F238E27FC236}">
                <a16:creationId xmlns:a16="http://schemas.microsoft.com/office/drawing/2014/main" id="{015F4718-1853-41AD-86A3-FE1E42C5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975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5D6975"/>
                </a:solidFill>
                <a:latin typeface="Aptos Mono"/>
                <a:ea typeface="Aptos Mono"/>
                <a:cs typeface="Aptos Mono"/>
              </a:rPr>
              <a:t>MVP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3D9B8-7217-4F1B-A3FE-DE8127C8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096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Build one destination pilot, then prove the agent saves planning time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6C15A-3246-458C-983C-60B5BB67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The first version should be narrow: one city, a small set of interest categories, permissioned sources, and a measurable itinerary quality rubric.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24AC2-EC2E-4DD9-9108-17801869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21717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6C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4F62A-D995-4E74-88E7-0EDA8C5B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217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6C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a3c4a986e4608">
            <a:extLst>
              <a:ext uri="{96DAC541-7B7A-43D3-8B79-37D633B846F1}">
                <asvg:svgBlip xmlns:asvg="http://schemas.microsoft.com/office/drawing/2016/SVG/main" r:embed="R0db3e198c91348d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09650" y="3219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0EA5A0-BBAE-4D6C-907B-E488A02E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575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106C6F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106C6F"/>
                </a:solidFill>
                <a:latin typeface="Aptos Mono"/>
                <a:ea typeface="Aptos Mono"/>
                <a:cs typeface="Aptos Mono"/>
              </a:rPr>
              <a:t>0-4 WEEKS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E153FD-0619-4109-B9CE-80E59FB8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Signal + place 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093D18-DC3A-48FE-92E8-48386D62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5765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Import user links or approved social-listening feeds; extract POIs and tags.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B8CA22-FE38-49F0-BDE6-8591D8A1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528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28B4D5-D8E7-4AED-AD37-3E40ADD3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14650"/>
            <a:ext cx="21717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5D3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13454-C960-498C-887F-94206470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14650"/>
            <a:ext cx="217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97121d96e844da">
            <a:extLst>
              <a:ext uri="{96DAC541-7B7A-43D3-8B79-37D633B846F1}">
                <asvg:svgBlip xmlns:asvg="http://schemas.microsoft.com/office/drawing/2016/SVG/main" r:embed="R806dbb299f4f473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638550" y="3219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6D5F8D-E0FA-4137-9C5C-6C5CCF3C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575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D85D3F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D85D3F"/>
                </a:solidFill>
                <a:latin typeface="Aptos Mono"/>
                <a:ea typeface="Aptos Mono"/>
                <a:cs typeface="Aptos Mono"/>
              </a:rPr>
              <a:t>5-8 WEEKS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97BF5D-901F-4250-9425-3AA5391E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766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Planner MVP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AD11E3-2D4C-4DBE-A573-03478B23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5765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Generate day-by-day route with checks for hours, distance, budget, and alternates.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2299F7-90DE-4AD5-9C4B-C449037D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528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F98E6D-589B-4E46-ABED-9633435D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14650"/>
            <a:ext cx="21717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A3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C2610C-4C5E-4C2F-8BB8-58EAB0EC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14650"/>
            <a:ext cx="217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f8b0a49a654cdd">
            <a:extLst>
              <a:ext uri="{96DAC541-7B7A-43D3-8B79-37D633B846F1}">
                <asvg:svgBlip xmlns:asvg="http://schemas.microsoft.com/office/drawing/2016/SVG/main" r:embed="R9673238d20fb47b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67450" y="3219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E34FCD-79A8-4B07-B07E-66A7CB5B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575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D7A33B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D7A33B"/>
                </a:solidFill>
                <a:latin typeface="Aptos Mono"/>
                <a:ea typeface="Aptos Mono"/>
                <a:cs typeface="Aptos Mono"/>
              </a:rPr>
              <a:t>9-12 WEEKS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40730E-C2D0-44D9-BE55-BEF76115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766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Pilot and scoring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4E3736-9BAA-4427-9060-12785B34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5765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Test with travellers; measure time saved, edit rate, satisfaction, and booking clicks.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450251-159B-47D9-B62D-6463935D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528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5FD7A6-EF08-4629-BE0F-CB1CFE15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21717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6E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942B58-323B-4C3A-BDFA-9A75472F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217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f89360e124ce9">
            <a:extLst>
              <a:ext uri="{96DAC541-7B7A-43D3-8B79-37D633B846F1}">
                <asvg:svgBlip xmlns:asvg="http://schemas.microsoft.com/office/drawing/2016/SVG/main" r:embed="Rb2e0b7f03ddb4c8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96350" y="3219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C68567-8D70-43E4-BC64-6F6AF511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575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2E6EDB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2E6EDB"/>
                </a:solidFill>
                <a:latin typeface="Aptos Mono"/>
                <a:ea typeface="Aptos Mono"/>
                <a:cs typeface="Aptos Mono"/>
              </a:rPr>
              <a:t>NEXT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BBEF4C-ABB6-47EF-A60A-50268F3A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766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Scale carefully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2688AD-DD30-4B94-9915-805DB224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5765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Add more destinations, group planning, live disruption handling, and partner dashboard.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BC26A9-5332-433B-B712-B4FDA21E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81600"/>
            <a:ext cx="9525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68C1E9-E9E0-4F01-9C79-A1B48FCB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5305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CC9BE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CC9BE"/>
                </a:solidFill>
                <a:latin typeface="Aptos Mono"/>
                <a:ea typeface="Aptos Mono"/>
                <a:cs typeface="Aptos Mono"/>
              </a:rPr>
              <a:t>ASK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B1D787-EEBB-4ED2-84C3-22D3FB3B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14950"/>
            <a:ext cx="786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Approve a focused prototype: connect approved social trend inputs, build a Sydney demo planner, and test whether travellers accept the itinerary with fewer manual edits.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224013-8D4C-4B9D-AE69-CEBCAA24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29E83B-A03E-4729-9324-4153B3F6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D6975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5D6975"/>
                </a:solidFill>
                <a:latin typeface="Aptos Mono"/>
                <a:ea typeface="Aptos Mono"/>
                <a:cs typeface="Aptos Mono"/>
              </a:rPr>
              <a:t>NEXT STEP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1C6C6E-F5A1-4731-9DA6-97066E3E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389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A96A3"/>
                </a:solidFill>
                <a:latin typeface="Aptos Mono"/>
                <a:ea typeface="Aptos Mono"/>
                <a:cs typeface="Aptos Mono"/>
              </a:defRPr>
            </a:pPr>
            <a:r>
              <a:rPr sz="563" b="0">
                <a:solidFill>
                  <a:srgbClr val="8A96A3"/>
                </a:solidFill>
                <a:latin typeface="Aptos Mono"/>
                <a:ea typeface="Aptos Mono"/>
                <a:cs typeface="Aptos Mono"/>
              </a:rPr>
              <a:t>Pilot metric set: planning time, edit rate, plan quality, booking handoff clicks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28EFF4-12DE-452E-9C6E-2B072DFB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627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322570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2026-05-20T08:56:29.7310000Z</dcterms:created>
  <dcterms:modified xsi:type="dcterms:W3CDTF">2026-05-20T08:56:29.7310000Z</dcterms:modified>
</coreProperties>
</file>